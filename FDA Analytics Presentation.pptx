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1_2E7CB9AD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D_38C0F24D.xml" ContentType="application/vnd.ms-powerpoint.comments+xml"/>
  <Override PartName="/ppt/webextensions/webextension1.xml" ContentType="application/vnd.ms-office.webextension+xml"/>
  <Override PartName="/ppt/notesSlides/notesSlide6.xml" ContentType="application/vnd.openxmlformats-officedocument.presentationml.notesSlide+xml"/>
  <Override PartName="/ppt/comments/modernComment_112_D3FB3F0A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4"/>
  </p:sldMasterIdLst>
  <p:notesMasterIdLst>
    <p:notesMasterId r:id="rId18"/>
  </p:notesMasterIdLst>
  <p:sldIdLst>
    <p:sldId id="291" r:id="rId5"/>
    <p:sldId id="257" r:id="rId6"/>
    <p:sldId id="273" r:id="rId7"/>
    <p:sldId id="279" r:id="rId8"/>
    <p:sldId id="295" r:id="rId9"/>
    <p:sldId id="269" r:id="rId10"/>
    <p:sldId id="274" r:id="rId11"/>
    <p:sldId id="281" r:id="rId12"/>
    <p:sldId id="282" r:id="rId13"/>
    <p:sldId id="285" r:id="rId14"/>
    <p:sldId id="287" r:id="rId15"/>
    <p:sldId id="289" r:id="rId16"/>
    <p:sldId id="296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6D1D5E-B1BF-8081-2EC1-9BA965A41DA6}" name="Scott W Vann (swvann)" initials="S(" userId="S::swvann@memphis.edu::a13d95fe-73ac-4d99-802d-72e850300860" providerId="AD"/>
  <p188:author id="{544BAAC5-C736-FB01-4D33-693F7C589B80}" name="Ramesh Pothu (rpothu)" initials="R(" userId="S::rpothu@memphis.edu::a706f789-d103-43f9-81d5-35b87cfa5029" providerId="AD"/>
  <p188:author id="{DA9C89FB-BA51-B4F6-5A02-EF2435017715}" name="Breana Lorraine Robinson (blrbnsn4)" initials="BR" userId="S::blrbnsn4@memphis.edu::02425de1-a5ca-41b5-8706-17de809b7b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omments/modernComment_10D_38C0F2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DDF84A-71FC-4DD3-AB4C-826931C6455D}" authorId="{AD6D1D5E-B1BF-8081-2EC1-9BA965A41DA6}" created="2026-03-25T00:02:51.687">
    <pc:sldMkLst xmlns:pc="http://schemas.microsoft.com/office/powerpoint/2013/main/command">
      <pc:docMk/>
      <pc:sldMk cId="952169037" sldId="269"/>
    </pc:sldMkLst>
    <p188:replyLst>
      <p188:reply id="{F13D9738-8416-474F-BE00-D2FB34C1583F}" authorId="{544BAAC5-C736-FB01-4D33-693F7C589B80}" created="2026-03-25T01:16:04.304">
        <p188:txBody>
          <a:bodyPr/>
          <a:lstStyle/>
          <a:p>
            <a:r>
              <a:rPr lang="en-GB"/>
              <a:t>power bi reports are integrated here, reports will be show on sign-in, demo will be given from ppt instead of switching to power bi application</a:t>
            </a:r>
          </a:p>
        </p188:txBody>
      </p188:reply>
      <p188:reply id="{9AE29038-AB48-4B54-9917-E2A15E8FD08B}" authorId="{DA9C89FB-BA51-B4F6-5A02-EF2435017715}" created="2026-03-25T01:48:45.977">
        <p188:txBody>
          <a:bodyPr/>
          <a:lstStyle/>
          <a:p>
            <a:r>
              <a:rPr lang="en-US"/>
              <a:t>Yes</a:t>
            </a:r>
          </a:p>
        </p188:txBody>
      </p188:reply>
    </p188:replyLst>
    <p188:txBody>
      <a:bodyPr/>
      <a:lstStyle/>
      <a:p>
        <a:r>
          <a:rPr lang="en-US"/>
          <a:t>What should be listed on this slide?</a:t>
        </a:r>
      </a:p>
    </p188:txBody>
  </p188:cm>
</p188:cmLst>
</file>

<file path=ppt/comments/modernComment_111_2E7CB9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3A30B8-53F5-4524-A060-E9AE6B3CC6BA}" authorId="{AD6D1D5E-B1BF-8081-2EC1-9BA965A41DA6}" created="2026-03-25T00:02:22.437">
    <pc:sldMkLst xmlns:pc="http://schemas.microsoft.com/office/powerpoint/2013/main/command">
      <pc:docMk/>
      <pc:sldMk cId="779925933" sldId="273"/>
    </pc:sldMkLst>
    <p188:replyLst>
      <p188:reply id="{6BC98924-5ACE-4824-AEE1-750DF508C076}" authorId="{DA9C89FB-BA51-B4F6-5A02-EF2435017715}" created="2026-03-25T01:48:21.024">
        <p188:txBody>
          <a:bodyPr/>
          <a:lstStyle/>
          <a:p>
            <a:r>
              <a:rPr lang="en-US"/>
              <a:t>The data slides do appear over the question in presentation mode. I was thinking of keeping this where it is at to introduce the audience to our problem. Sort of a hook.</a:t>
            </a:r>
          </a:p>
        </p188:txBody>
      </p188:reply>
    </p188:replyLst>
    <p188:txBody>
      <a:bodyPr/>
      <a:lstStyle/>
      <a:p>
        <a:r>
          <a:rPr lang="en-US"/>
          <a:t>I recommend adding this slide after slide 4. You can use the PowerPoint actions option to have the data slides appear on click over the Problem Statement. </a:t>
        </a:r>
      </a:p>
    </p188:txBody>
  </p188:cm>
</p188:cmLst>
</file>

<file path=ppt/comments/modernComment_112_D3FB3F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7332B1-EE3C-4BE9-A9C1-3CDB4EA3E617}" authorId="{AD6D1D5E-B1BF-8081-2EC1-9BA965A41DA6}" created="2026-03-25T00:03:07.703">
    <pc:sldMkLst xmlns:pc="http://schemas.microsoft.com/office/powerpoint/2013/main/command">
      <pc:docMk/>
      <pc:sldMk cId="3556458250" sldId="274"/>
    </pc:sldMkLst>
    <p188:txBody>
      <a:bodyPr/>
      <a:lstStyle/>
      <a:p>
        <a:r>
          <a:rPr lang="en-US"/>
          <a:t>Looks great!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3-25T01:13:39.505" authorId="{544BAAC5-C736-FB01-4D33-693F7C589B80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0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 introductions. Breana: data prep. Ramesh: SAS forecasting. Lordina: Python ML and design.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What use see above isn’t just raw data its 190k lines of data spread across 12 unorganized tables  </a:t>
            </a:r>
            <a:r>
              <a:rPr lang="en-US" err="1"/>
              <a:t>pkatform</a:t>
            </a:r>
            <a:r>
              <a:rPr lang="en-US"/>
              <a:t> selling </a:t>
            </a:r>
            <a:r>
              <a:rPr lang="en-US" err="1"/>
              <a:t>ont</a:t>
            </a:r>
            <a:r>
              <a:rPr lang="en-US"/>
              <a:t> data TIME IS MONEY</a:t>
            </a:r>
          </a:p>
        </p:txBody>
      </p:sp>
    </p:spTree>
    <p:extLst>
      <p:ext uri="{BB962C8B-B14F-4D97-AF65-F5344CB8AC3E}">
        <p14:creationId xmlns:p14="http://schemas.microsoft.com/office/powerpoint/2010/main" val="731855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Time is </a:t>
            </a:r>
            <a:r>
              <a:rPr lang="en-US" err="1">
                <a:ea typeface="Calibri"/>
                <a:cs typeface="Calibri"/>
              </a:rPr>
              <a:t>MOney</a:t>
            </a:r>
            <a:r>
              <a:rPr lang="en-US">
                <a:ea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495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06BD-D89C-BE88-ADBD-F9578D8C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C64F4-806F-1E7F-9B4C-74C187D16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DD076-9532-B9E3-C843-22BDFC346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Time is </a:t>
            </a:r>
            <a:r>
              <a:rPr lang="en-US" err="1">
                <a:ea typeface="Calibri"/>
                <a:cs typeface="Calibri"/>
              </a:rPr>
              <a:t>MOney</a:t>
            </a:r>
            <a:r>
              <a:rPr lang="en-US">
                <a:ea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0963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err="1">
                <a:ea typeface="Calibri"/>
                <a:cs typeface="Calibri"/>
              </a:rPr>
              <a:t>Intercative</a:t>
            </a:r>
            <a:r>
              <a:rPr lang="en-US">
                <a:ea typeface="Calibri"/>
                <a:cs typeface="Calibri"/>
              </a:rPr>
              <a:t> Dashboard – sell it to CGI not present the Dashboard (why to buy)?  </a:t>
            </a:r>
          </a:p>
          <a:p>
            <a:r>
              <a:rPr lang="en-US">
                <a:ea typeface="Calibri"/>
                <a:cs typeface="Calibri"/>
              </a:rPr>
              <a:t> We have created this model </a:t>
            </a:r>
          </a:p>
          <a:p>
            <a:r>
              <a:rPr lang="en-US">
                <a:ea typeface="Calibri"/>
                <a:cs typeface="Calibri"/>
              </a:rPr>
              <a:t>Less </a:t>
            </a:r>
            <a:r>
              <a:rPr lang="en-US" err="1">
                <a:ea typeface="Calibri"/>
                <a:cs typeface="Calibri"/>
              </a:rPr>
              <a:t>techinacal</a:t>
            </a:r>
            <a:r>
              <a:rPr lang="en-US">
                <a:ea typeface="Calibri"/>
                <a:cs typeface="Calibri"/>
              </a:rPr>
              <a:t> more business </a:t>
            </a:r>
            <a:r>
              <a:rPr lang="en-US" err="1">
                <a:ea typeface="Calibri"/>
                <a:cs typeface="Calibri"/>
              </a:rPr>
              <a:t>focusewd</a:t>
            </a:r>
          </a:p>
        </p:txBody>
      </p:sp>
    </p:spTree>
    <p:extLst>
      <p:ext uri="{BB962C8B-B14F-4D97-AF65-F5344CB8AC3E}">
        <p14:creationId xmlns:p14="http://schemas.microsoft.com/office/powerpoint/2010/main" val="1463237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Updated automatically </a:t>
            </a:r>
          </a:p>
        </p:txBody>
      </p:sp>
    </p:spTree>
    <p:extLst>
      <p:ext uri="{BB962C8B-B14F-4D97-AF65-F5344CB8AC3E}">
        <p14:creationId xmlns:p14="http://schemas.microsoft.com/office/powerpoint/2010/main" val="1554010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err="1">
                <a:ea typeface="Calibri"/>
                <a:cs typeface="Calibri"/>
              </a:rPr>
              <a:t>Buget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cotrnaist</a:t>
            </a:r>
            <a:r>
              <a:rPr lang="en-US">
                <a:ea typeface="Calibri"/>
                <a:cs typeface="Calibri"/>
              </a:rPr>
              <a:t> from </a:t>
            </a:r>
            <a:r>
              <a:rPr lang="en-US" err="1">
                <a:ea typeface="Calibri"/>
                <a:cs typeface="Calibri"/>
              </a:rPr>
              <a:t>sas</a:t>
            </a:r>
            <a:r>
              <a:rPr lang="en-US">
                <a:ea typeface="Calibri"/>
                <a:cs typeface="Calibri"/>
              </a:rPr>
              <a:t> say this</a:t>
            </a:r>
          </a:p>
          <a:p>
            <a:r>
              <a:rPr lang="en-US">
                <a:ea typeface="Calibri"/>
                <a:cs typeface="Calibri"/>
              </a:rPr>
              <a:t>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</a:t>
            </a:r>
            <a:r>
              <a:rPr lang="en-US" err="1">
                <a:ea typeface="Calibri"/>
                <a:cs typeface="Calibri"/>
              </a:rPr>
              <a:t>facebook</a:t>
            </a:r>
            <a:r>
              <a:rPr lang="en-US">
                <a:ea typeface="Calibri"/>
                <a:cs typeface="Calibri"/>
              </a:rPr>
              <a:t> prophet</a:t>
            </a:r>
          </a:p>
          <a:p>
            <a:r>
              <a:rPr lang="en-US">
                <a:ea typeface="Calibri"/>
                <a:cs typeface="Calibri"/>
              </a:rPr>
              <a:t>Just say it </a:t>
            </a:r>
            <a:r>
              <a:rPr lang="en-US" err="1">
                <a:ea typeface="Calibri"/>
                <a:cs typeface="Calibri"/>
              </a:rPr>
              <a:t>dowloads</a:t>
            </a:r>
            <a:r>
              <a:rPr lang="en-US">
                <a:ea typeface="Calibri"/>
                <a:cs typeface="Calibri"/>
              </a:rPr>
              <a:t> from the current </a:t>
            </a:r>
            <a:r>
              <a:rPr lang="en-US" err="1">
                <a:ea typeface="Calibri"/>
                <a:cs typeface="Calibri"/>
              </a:rPr>
              <a:t>fda</a:t>
            </a:r>
            <a:r>
              <a:rPr lang="en-US">
                <a:ea typeface="Calibri"/>
                <a:cs typeface="Calibri"/>
              </a:rPr>
              <a:t> table we have </a:t>
            </a:r>
            <a:r>
              <a:rPr lang="en-US" err="1">
                <a:ea typeface="Calibri"/>
                <a:cs typeface="Calibri"/>
              </a:rPr>
              <a:t>diccussed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befire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Trained 5 times x2</a:t>
            </a:r>
          </a:p>
          <a:p>
            <a:r>
              <a:rPr lang="en-US">
                <a:ea typeface="Calibri"/>
                <a:cs typeface="Calibri"/>
              </a:rPr>
              <a:t>Facebook </a:t>
            </a:r>
            <a:r>
              <a:rPr lang="en-US" err="1">
                <a:ea typeface="Calibri"/>
                <a:cs typeface="Calibri"/>
              </a:rPr>
              <a:t>phrophet</a:t>
            </a:r>
            <a:r>
              <a:rPr lang="en-US">
                <a:ea typeface="Calibri"/>
                <a:cs typeface="Calibri"/>
              </a:rPr>
              <a:t> gain </a:t>
            </a:r>
          </a:p>
          <a:p>
            <a:r>
              <a:rPr lang="en-US">
                <a:ea typeface="Calibri"/>
                <a:cs typeface="Calibri"/>
              </a:rPr>
              <a:t>The trained period we used for this model was from 9185 into 2025 and then we predicted it to 2040</a:t>
            </a:r>
          </a:p>
          <a:p>
            <a:r>
              <a:rPr lang="en-US">
                <a:ea typeface="Calibri"/>
                <a:cs typeface="Calibri"/>
              </a:rPr>
              <a:t>To </a:t>
            </a:r>
            <a:r>
              <a:rPr lang="en-US" err="1">
                <a:ea typeface="Calibri"/>
                <a:cs typeface="Calibri"/>
              </a:rPr>
              <a:t>mnay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statitcs</a:t>
            </a:r>
            <a:r>
              <a:rPr lang="en-US">
                <a:ea typeface="Calibri"/>
                <a:cs typeface="Calibri"/>
              </a:rPr>
              <a:t> on the </a:t>
            </a:r>
            <a:r>
              <a:rPr lang="en-US" err="1">
                <a:ea typeface="Calibri"/>
                <a:cs typeface="Calibri"/>
              </a:rPr>
              <a:t>slided</a:t>
            </a:r>
            <a:r>
              <a:rPr lang="en-US">
                <a:ea typeface="Calibri"/>
                <a:cs typeface="Calibri"/>
              </a:rPr>
              <a:t> but more words like the </a:t>
            </a:r>
            <a:r>
              <a:rPr lang="en-US" err="1">
                <a:ea typeface="Calibri"/>
                <a:cs typeface="Calibri"/>
              </a:rPr>
              <a:t>defintiuon</a:t>
            </a:r>
            <a:r>
              <a:rPr lang="en-US">
                <a:ea typeface="Calibri"/>
                <a:cs typeface="Calibri"/>
              </a:rPr>
              <a:t> of </a:t>
            </a:r>
            <a:r>
              <a:rPr lang="en-US" err="1">
                <a:ea typeface="Calibri"/>
                <a:cs typeface="Calibri"/>
              </a:rPr>
              <a:t>facebook</a:t>
            </a:r>
            <a:r>
              <a:rPr lang="en-US">
                <a:ea typeface="Calibri"/>
                <a:cs typeface="Calibri"/>
              </a:rPr>
              <a:t> prophet </a:t>
            </a:r>
          </a:p>
          <a:p>
            <a:r>
              <a:rPr lang="en-US">
                <a:ea typeface="Calibri"/>
                <a:cs typeface="Calibri"/>
              </a:rPr>
              <a:t>Don’t </a:t>
            </a:r>
            <a:r>
              <a:rPr lang="en-US" err="1">
                <a:ea typeface="Calibri"/>
                <a:cs typeface="Calibri"/>
              </a:rPr>
              <a:t>rmable</a:t>
            </a:r>
            <a:r>
              <a:rPr lang="en-US">
                <a:ea typeface="Calibri"/>
                <a:cs typeface="Calibri"/>
              </a:rPr>
              <a:t> on the prescriptive impact try to </a:t>
            </a:r>
            <a:r>
              <a:rPr lang="en-US" err="1">
                <a:ea typeface="Calibri"/>
                <a:cs typeface="Calibri"/>
              </a:rPr>
              <a:t>onl</a:t>
            </a:r>
            <a:r>
              <a:rPr lang="en-US">
                <a:ea typeface="Calibri"/>
                <a:cs typeface="Calibri"/>
              </a:rPr>
              <a:t> say the bold words </a:t>
            </a:r>
          </a:p>
          <a:p>
            <a:r>
              <a:rPr lang="en-US">
                <a:ea typeface="Calibri"/>
                <a:cs typeface="Calibri"/>
              </a:rPr>
              <a:t>Don’t repeat and </a:t>
            </a:r>
            <a:r>
              <a:rPr lang="en-US" err="1">
                <a:ea typeface="Calibri"/>
                <a:cs typeface="Calibri"/>
              </a:rPr>
              <a:t>slwo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dwon</a:t>
            </a:r>
            <a:r>
              <a:rPr lang="en-US">
                <a:ea typeface="Calibri"/>
                <a:cs typeface="Calibri"/>
              </a:rPr>
              <a:t> </a:t>
            </a:r>
          </a:p>
          <a:p>
            <a:r>
              <a:rPr lang="en-US">
                <a:ea typeface="Calibri"/>
                <a:cs typeface="Calibri"/>
              </a:rPr>
              <a:t>Tomany words on </a:t>
            </a:r>
            <a:r>
              <a:rPr lang="en-US" err="1">
                <a:ea typeface="Calibri"/>
                <a:cs typeface="Calibri"/>
              </a:rPr>
              <a:t>prescrptive</a:t>
            </a:r>
            <a:r>
              <a:rPr lang="en-US">
                <a:ea typeface="Calibri"/>
                <a:cs typeface="Calibri"/>
              </a:rPr>
              <a:t> impact </a:t>
            </a:r>
          </a:p>
          <a:p>
            <a:r>
              <a:rPr lang="en-US">
                <a:ea typeface="Calibri"/>
                <a:cs typeface="Calibri"/>
              </a:rPr>
              <a:t>Lost me at </a:t>
            </a:r>
            <a:r>
              <a:rPr lang="en-US" err="1">
                <a:ea typeface="Calibri"/>
                <a:cs typeface="Calibri"/>
              </a:rPr>
              <a:t>theend</a:t>
            </a:r>
            <a:r>
              <a:rPr lang="en-US">
                <a:ea typeface="Calibri"/>
                <a:cs typeface="Calibri"/>
              </a:rPr>
              <a:t> </a:t>
            </a:r>
          </a:p>
          <a:p>
            <a:r>
              <a:rPr lang="en-US" err="1">
                <a:ea typeface="Calibri"/>
                <a:cs typeface="Calibri"/>
              </a:rPr>
              <a:t>Prescrptie</a:t>
            </a:r>
            <a:r>
              <a:rPr lang="en-US">
                <a:ea typeface="Calibri"/>
                <a:cs typeface="Calibri"/>
              </a:rPr>
              <a:t> impact 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870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Intercative</a:t>
            </a:r>
            <a:r>
              <a:rPr lang="en-US">
                <a:ea typeface="Calibri"/>
                <a:cs typeface="Calibri"/>
              </a:rPr>
              <a:t> dashboard how to move forward 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Time in Money on a bullet point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AD6EE87-EBD5-4F12-A48A-63ACA297AC8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23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883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A61015F-7CC6-4D0A-9D87-873EA4C304C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89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649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878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11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124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13961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7616CA0-919D-4A49-9C8A-62FDFB3A518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7E5644-1E61-4311-A31E-84CB9C7AA8A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955020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157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045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185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6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2E7CB9AD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38C0F24D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0.png"/><Relationship Id="rId4" Type="http://schemas.microsoft.com/office/2011/relationships/webextension" Target="../webextensions/webextension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D3FB3F0A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239FD32-3EA6-B864-F485-C4C0A351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9" y="-1659"/>
            <a:ext cx="3429000" cy="51435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B8AF8A8-6974-F30D-4E16-F7A56A4E8E06}"/>
              </a:ext>
            </a:extLst>
          </p:cNvPr>
          <p:cNvSpPr/>
          <p:nvPr/>
        </p:nvSpPr>
        <p:spPr>
          <a:xfrm>
            <a:off x="3528246" y="114771"/>
            <a:ext cx="5556957" cy="199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875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450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0025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algn="l" defTabSz="571500" rtl="0" eaLnBrk="1" latinLnBrk="0" hangingPunct="1"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FDA</a:t>
            </a:r>
            <a:r>
              <a:rPr lang="en-US" sz="6600" b="1">
                <a:solidFill>
                  <a:schemeClr val="tx1">
                    <a:lumMod val="85000"/>
                    <a:lumOff val="15000"/>
                  </a:schemeClr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 </a:t>
            </a:r>
            <a:endParaRPr lang="en-US" sz="6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66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Analytics</a:t>
            </a:r>
          </a:p>
          <a:p>
            <a:r>
              <a:rPr lang="en-US" sz="66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Platform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6735EF-FBDD-B780-4713-875421E5C1C8}"/>
              </a:ext>
            </a:extLst>
          </p:cNvPr>
          <p:cNvSpPr txBox="1"/>
          <p:nvPr/>
        </p:nvSpPr>
        <p:spPr>
          <a:xfrm>
            <a:off x="3586654" y="4503026"/>
            <a:ext cx="586363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262626"/>
                </a:solidFill>
                <a:latin typeface="Calibri"/>
              </a:rPr>
              <a:t>Presented by the T</a:t>
            </a:r>
            <a:r>
              <a:rPr lang="en-US" sz="1200">
                <a:solidFill>
                  <a:srgbClr val="262626"/>
                </a:solidFill>
                <a:latin typeface="Calibri"/>
              </a:rPr>
              <a:t>rends</a:t>
            </a:r>
            <a:r>
              <a:rPr lang="en-US" sz="1200" baseline="0">
                <a:solidFill>
                  <a:srgbClr val="262626"/>
                </a:solidFill>
                <a:latin typeface="Calibri"/>
              </a:rPr>
              <a:t> · </a:t>
            </a:r>
            <a:r>
              <a:rPr lang="en-US" sz="1200" b="1" baseline="0">
                <a:solidFill>
                  <a:srgbClr val="262626"/>
                </a:solidFill>
                <a:latin typeface="Calibri"/>
              </a:rPr>
              <a:t>I</a:t>
            </a:r>
            <a:r>
              <a:rPr lang="en-US" sz="1200" baseline="0">
                <a:solidFill>
                  <a:srgbClr val="262626"/>
                </a:solidFill>
                <a:latin typeface="Calibri"/>
              </a:rPr>
              <a:t>nsights · </a:t>
            </a:r>
            <a:r>
              <a:rPr lang="en-US" sz="1200" b="1" baseline="0">
                <a:solidFill>
                  <a:srgbClr val="262626"/>
                </a:solidFill>
                <a:latin typeface="Calibri"/>
              </a:rPr>
              <a:t>G</a:t>
            </a:r>
            <a:r>
              <a:rPr lang="en-US" sz="1200" baseline="0">
                <a:solidFill>
                  <a:srgbClr val="262626"/>
                </a:solidFill>
                <a:latin typeface="Calibri"/>
              </a:rPr>
              <a:t>rowth · </a:t>
            </a:r>
            <a:r>
              <a:rPr lang="en-US" sz="1200" b="1" baseline="0">
                <a:solidFill>
                  <a:srgbClr val="262626"/>
                </a:solidFill>
                <a:latin typeface="Calibri"/>
              </a:rPr>
              <a:t>E</a:t>
            </a:r>
            <a:r>
              <a:rPr lang="en-US" sz="1200" baseline="0">
                <a:solidFill>
                  <a:srgbClr val="262626"/>
                </a:solidFill>
                <a:latin typeface="Calibri"/>
              </a:rPr>
              <a:t>valuation · </a:t>
            </a:r>
            <a:r>
              <a:rPr lang="en-US" sz="1200" b="1" baseline="0">
                <a:solidFill>
                  <a:srgbClr val="262626"/>
                </a:solidFill>
                <a:latin typeface="Calibri"/>
              </a:rPr>
              <a:t>R</a:t>
            </a:r>
            <a:r>
              <a:rPr lang="en-US" sz="1200" baseline="0">
                <a:solidFill>
                  <a:srgbClr val="262626"/>
                </a:solidFill>
                <a:latin typeface="Calibri"/>
              </a:rPr>
              <a:t>isk · </a:t>
            </a:r>
            <a:r>
              <a:rPr lang="en-US" sz="1200" b="1" baseline="0">
                <a:solidFill>
                  <a:srgbClr val="262626"/>
                </a:solidFill>
                <a:latin typeface="Calibri"/>
              </a:rPr>
              <a:t>S</a:t>
            </a:r>
            <a:r>
              <a:rPr lang="en-US" sz="1200" baseline="0">
                <a:solidFill>
                  <a:srgbClr val="262626"/>
                </a:solidFill>
                <a:latin typeface="Calibri"/>
              </a:rPr>
              <a:t>imulation</a:t>
            </a:r>
            <a:r>
              <a:rPr lang="en-US" sz="1200">
                <a:latin typeface="Calibri"/>
                <a:ea typeface="Calibri"/>
                <a:cs typeface="Calibri"/>
              </a:rPr>
              <a:t>​ -Team</a:t>
            </a:r>
            <a:endParaRPr lang="en-US" sz="12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3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 rot="-10800000" flipV="1">
            <a:off x="1761858" y="603044"/>
            <a:ext cx="5893379" cy="3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Meet The T.I.G.E.R.S</a:t>
            </a:r>
          </a:p>
        </p:txBody>
      </p:sp>
      <p:sp>
        <p:nvSpPr>
          <p:cNvPr id="6" name="Shape 4"/>
          <p:cNvSpPr/>
          <p:nvPr/>
        </p:nvSpPr>
        <p:spPr>
          <a:xfrm>
            <a:off x="640081" y="1285316"/>
            <a:ext cx="2377440" cy="54864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99823" y="1285316"/>
            <a:ext cx="2418673" cy="54864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519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00B4D8"/>
              </a:solidFill>
              <a:latin typeface="Georgi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799" y="1317973"/>
            <a:ext cx="2377440" cy="54864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00B4D8"/>
              </a:solidFill>
              <a:latin typeface="Georgia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2168C38-F186-E86B-613C-D2EED08D466E}"/>
              </a:ext>
            </a:extLst>
          </p:cNvPr>
          <p:cNvGrpSpPr/>
          <p:nvPr/>
        </p:nvGrpSpPr>
        <p:grpSpPr>
          <a:xfrm>
            <a:off x="3499823" y="1371486"/>
            <a:ext cx="2418674" cy="2952894"/>
            <a:chOff x="3499823" y="1332342"/>
            <a:chExt cx="2418674" cy="2952894"/>
          </a:xfrm>
        </p:grpSpPr>
        <p:sp>
          <p:nvSpPr>
            <p:cNvPr id="12" name="Shape 10"/>
            <p:cNvSpPr/>
            <p:nvPr/>
          </p:nvSpPr>
          <p:spPr>
            <a:xfrm>
              <a:off x="3499823" y="1332342"/>
              <a:ext cx="2418674" cy="295289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4206240" y="3007035"/>
              <a:ext cx="1005840" cy="3592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chemeClr val="tx2">
                      <a:lumMod val="50000"/>
                    </a:schemeClr>
                  </a:solidFill>
                  <a:latin typeface="Georgia" pitchFamily="34" charset="0"/>
                </a:rPr>
                <a:t>Ramesh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3913161" y="3437647"/>
              <a:ext cx="1585027" cy="456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SAS Viya Predictive Modeling (ML &amp; Forecasting)</a:t>
              </a:r>
            </a:p>
          </p:txBody>
        </p:sp>
        <p:pic>
          <p:nvPicPr>
            <p:cNvPr id="28" name="Picture 27" descr="A person in a suit&#10;&#10;AI-generated content may be incorrect.">
              <a:extLst>
                <a:ext uri="{FF2B5EF4-FFF2-40B4-BE49-F238E27FC236}">
                  <a16:creationId xmlns:a16="http://schemas.microsoft.com/office/drawing/2014/main" id="{26E52EED-47E7-475F-F105-9A1EF31474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186" t="1" r="1640" b="178"/>
            <a:stretch>
              <a:fillRect/>
            </a:stretch>
          </p:blipFill>
          <p:spPr>
            <a:xfrm>
              <a:off x="3933347" y="1535869"/>
              <a:ext cx="1424449" cy="1413820"/>
            </a:xfrm>
            <a:prstGeom prst="ellipse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AEE33E-9071-847F-E4C6-9D69E79941E3}"/>
              </a:ext>
            </a:extLst>
          </p:cNvPr>
          <p:cNvGrpSpPr/>
          <p:nvPr/>
        </p:nvGrpSpPr>
        <p:grpSpPr>
          <a:xfrm>
            <a:off x="6400799" y="1372837"/>
            <a:ext cx="2377440" cy="2926080"/>
            <a:chOff x="6400799" y="1372837"/>
            <a:chExt cx="2377440" cy="2926080"/>
          </a:xfrm>
        </p:grpSpPr>
        <p:sp>
          <p:nvSpPr>
            <p:cNvPr id="19" name="Shape 17"/>
            <p:cNvSpPr/>
            <p:nvPr/>
          </p:nvSpPr>
          <p:spPr>
            <a:xfrm>
              <a:off x="6400799" y="1372837"/>
              <a:ext cx="2377440" cy="29260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6624914" y="301752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>
                  <a:solidFill>
                    <a:schemeClr val="tx2">
                      <a:lumMod val="50000"/>
                    </a:schemeClr>
                  </a:solidFill>
                  <a:latin typeface="Georgia" pitchFamily="34" charset="0"/>
                </a:rPr>
                <a:t>Lordina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095757" y="3511222"/>
              <a:ext cx="106999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ML &amp;</a:t>
              </a:r>
            </a:p>
            <a:p>
              <a:pPr algn="ctr"/>
              <a:r>
                <a: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ea typeface="Calibri"/>
                  <a:cs typeface="Calibri"/>
                </a:rPr>
                <a:t>Prescriptive Insights</a:t>
              </a:r>
              <a:endPara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29" name="Picture 28" descr="A person with braids wearing glasses&#10;&#10;AI-generated content may be incorrect.">
              <a:extLst>
                <a:ext uri="{FF2B5EF4-FFF2-40B4-BE49-F238E27FC236}">
                  <a16:creationId xmlns:a16="http://schemas.microsoft.com/office/drawing/2014/main" id="{CC13567E-DCBA-BA63-DBF5-B9D610F323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497" t="1" r="718" b="178"/>
            <a:stretch>
              <a:fillRect/>
            </a:stretch>
          </p:blipFill>
          <p:spPr>
            <a:xfrm>
              <a:off x="6888997" y="1538928"/>
              <a:ext cx="1412746" cy="1466444"/>
            </a:xfrm>
            <a:prstGeom prst="ellipse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EB1C00-C6BD-B7BA-7F30-A7FCAA8ADBDC}"/>
              </a:ext>
            </a:extLst>
          </p:cNvPr>
          <p:cNvGrpSpPr/>
          <p:nvPr/>
        </p:nvGrpSpPr>
        <p:grpSpPr>
          <a:xfrm>
            <a:off x="637529" y="1343874"/>
            <a:ext cx="2377440" cy="2952894"/>
            <a:chOff x="576966" y="1327759"/>
            <a:chExt cx="2377440" cy="2952894"/>
          </a:xfrm>
        </p:grpSpPr>
        <p:sp>
          <p:nvSpPr>
            <p:cNvPr id="5" name="Shape 3"/>
            <p:cNvSpPr/>
            <p:nvPr/>
          </p:nvSpPr>
          <p:spPr>
            <a:xfrm>
              <a:off x="576966" y="1327759"/>
              <a:ext cx="2377440" cy="295289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948DD30-1EC6-B30A-5CCB-47988DB38C40}"/>
                </a:ext>
              </a:extLst>
            </p:cNvPr>
            <p:cNvGrpSpPr/>
            <p:nvPr/>
          </p:nvGrpSpPr>
          <p:grpSpPr>
            <a:xfrm>
              <a:off x="749641" y="1608226"/>
              <a:ext cx="2011680" cy="2293713"/>
              <a:chOff x="749641" y="1608226"/>
              <a:chExt cx="2011680" cy="2293713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371600" y="1645920"/>
                <a:ext cx="914400" cy="914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2800" b="1">
                  <a:solidFill>
                    <a:srgbClr val="00B4D8"/>
                  </a:solidFill>
                  <a:latin typeface="Georgia"/>
                </a:endParaRPr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749641" y="3084940"/>
                <a:ext cx="20116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chemeClr val="tx2">
                        <a:lumMod val="50000"/>
                      </a:schemeClr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Breana</a:t>
                </a:r>
                <a:endParaRPr lang="en-US" sz="180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179595" y="3536179"/>
                <a:ext cx="1172183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 Preparation &amp;</a:t>
                </a:r>
                <a:endParaRPr lang="en-US" sz="10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/>
                    <a:ea typeface="Calibri"/>
                    <a:cs typeface="Calibri"/>
                  </a:rPr>
                  <a:t> Design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3E02174-028B-CC29-9729-7BFC9BD3C0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1271" t="14042" r="-56" b="20761"/>
              <a:stretch>
                <a:fillRect/>
              </a:stretch>
            </p:blipFill>
            <p:spPr>
              <a:xfrm>
                <a:off x="1041409" y="1608226"/>
                <a:ext cx="1428143" cy="1413820"/>
              </a:xfrm>
              <a:prstGeom prst="ellipse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7369F529-82F2-FDF6-0D83-43E9049286F0}"/>
              </a:ext>
            </a:extLst>
          </p:cNvPr>
          <p:cNvSpPr/>
          <p:nvPr/>
        </p:nvSpPr>
        <p:spPr>
          <a:xfrm>
            <a:off x="895622" y="608783"/>
            <a:ext cx="7359560" cy="39243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AD7F124-6A2C-5481-F11A-1DA1751D1227}"/>
              </a:ext>
            </a:extLst>
          </p:cNvPr>
          <p:cNvSpPr/>
          <p:nvPr/>
        </p:nvSpPr>
        <p:spPr>
          <a:xfrm>
            <a:off x="1235808" y="1457946"/>
            <a:ext cx="6679189" cy="222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How many drugs are submitted to the FDA per year for approval?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BC910-E151-963E-F776-571961B1A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" y="-281895"/>
            <a:ext cx="3539428" cy="2851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D13FC1-162C-65E1-06D4-BC3BDC444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618" y="-434591"/>
            <a:ext cx="6983651" cy="57569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EA7051-8AD7-6BBB-9D99-B7F900CDA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69261" y="1460144"/>
            <a:ext cx="4926563" cy="490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2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999FE9C-D8F9-4F9B-B95B-608C3EF6B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B0E28FF-02B6-5784-AC76-915E3E9F1D98}"/>
              </a:ext>
            </a:extLst>
          </p:cNvPr>
          <p:cNvSpPr/>
          <p:nvPr/>
        </p:nvSpPr>
        <p:spPr>
          <a:xfrm>
            <a:off x="3039537" y="330588"/>
            <a:ext cx="6989574" cy="579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Problem Statement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577CB9E-A5B2-39C6-1310-8F213361A053}"/>
              </a:ext>
            </a:extLst>
          </p:cNvPr>
          <p:cNvSpPr/>
          <p:nvPr/>
        </p:nvSpPr>
        <p:spPr>
          <a:xfrm rot="16200000">
            <a:off x="-1606775" y="2459632"/>
            <a:ext cx="4334631" cy="86179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734E8-45D2-993E-E790-FA3523820EF0}"/>
              </a:ext>
            </a:extLst>
          </p:cNvPr>
          <p:cNvSpPr txBox="1"/>
          <p:nvPr/>
        </p:nvSpPr>
        <p:spPr>
          <a:xfrm>
            <a:off x="1391382" y="1528852"/>
            <a:ext cx="666280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Pharmaceutical stakeholders face significant challenges in transforming </a:t>
            </a:r>
            <a:r>
              <a:rPr lang="en-US" b="1" err="1"/>
              <a:t>Data.gov's</a:t>
            </a:r>
            <a:r>
              <a:rPr lang="en-US"/>
              <a:t> vast, unstructured FDA datasets into clear, actionable insights —leaving critical gaps in drug approval analysis, outcome prediction, and market opportunity identification.​</a:t>
            </a:r>
          </a:p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592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B4CD1-CB70-95E4-3BE1-3CED6CA38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F09E40-D5E4-B9A9-4AD2-1D8431151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37E7A6D-D61F-A4E1-48B2-579D4F4E553C}"/>
              </a:ext>
            </a:extLst>
          </p:cNvPr>
          <p:cNvSpPr/>
          <p:nvPr/>
        </p:nvSpPr>
        <p:spPr>
          <a:xfrm>
            <a:off x="2876251" y="548302"/>
            <a:ext cx="3696646" cy="895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Purpose Statement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0EB610C-D9BB-2776-9B06-537BF7CE91D9}"/>
              </a:ext>
            </a:extLst>
          </p:cNvPr>
          <p:cNvSpPr/>
          <p:nvPr/>
        </p:nvSpPr>
        <p:spPr>
          <a:xfrm rot="16200000">
            <a:off x="-1606775" y="2459632"/>
            <a:ext cx="4334631" cy="86179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D1A49-BA60-94D1-967A-1B7ECC406DF9}"/>
              </a:ext>
            </a:extLst>
          </p:cNvPr>
          <p:cNvSpPr txBox="1"/>
          <p:nvPr/>
        </p:nvSpPr>
        <p:spPr>
          <a:xfrm>
            <a:off x="1391382" y="1528852"/>
            <a:ext cx="666280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Convert raw FDA datasets from Data.gov into clear, decision-ready intelligence by delivering</a:t>
            </a:r>
            <a:r>
              <a:rPr lang="en-US" sz="2000" b="1"/>
              <a:t> </a:t>
            </a:r>
            <a:r>
              <a:rPr lang="en-US" sz="2400" b="1"/>
              <a:t>descriptive, predictive,</a:t>
            </a:r>
            <a:r>
              <a:rPr lang="en-US"/>
              <a:t> and </a:t>
            </a:r>
            <a:r>
              <a:rPr lang="en-US" sz="2400" b="1"/>
              <a:t>prescriptive</a:t>
            </a:r>
            <a:r>
              <a:rPr lang="en-US"/>
              <a:t> insights through a unified Power BI, SAS Viya, and Python analytics platform—bridging the gap between data and strategy.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5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3" name="Object 2">
                <a:extLst>
                  <a:ext uri="{FF2B5EF4-FFF2-40B4-BE49-F238E27FC236}">
                    <a16:creationId xmlns:a16="http://schemas.microsoft.com/office/drawing/2014/main" id="{F27ADF02-AB20-B6C4-2A08-056545E75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544338"/>
                  </p:ext>
                </p:extLst>
              </p:nvPr>
            </p:nvGraphicFramePr>
            <p:xfrm>
              <a:off x="0" y="0"/>
              <a:ext cx="9523708" cy="565688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3" name="Object 2">
                <a:extLst>
                  <a:ext uri="{FF2B5EF4-FFF2-40B4-BE49-F238E27FC236}">
                    <a16:creationId xmlns:a16="http://schemas.microsoft.com/office/drawing/2014/main" id="{F27ADF02-AB20-B6C4-2A08-056545E754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9523708" cy="56568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21690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line of blue circles&#10;&#10;AI-generated content may be incorrect.">
            <a:extLst>
              <a:ext uri="{FF2B5EF4-FFF2-40B4-BE49-F238E27FC236}">
                <a16:creationId xmlns:a16="http://schemas.microsoft.com/office/drawing/2014/main" id="{B49D86AF-F8EC-B10B-F400-F0CEE7D873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25" y="972378"/>
            <a:ext cx="6740111" cy="39349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7B24DA-091E-D2A1-3D49-5F045BE63FC3}"/>
              </a:ext>
            </a:extLst>
          </p:cNvPr>
          <p:cNvSpPr txBox="1"/>
          <p:nvPr/>
        </p:nvSpPr>
        <p:spPr>
          <a:xfrm>
            <a:off x="6927695" y="1742379"/>
            <a:ext cx="22163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Model </a:t>
            </a:r>
          </a:p>
          <a:p>
            <a:pPr>
              <a:buFont typeface=""/>
              <a:buChar char="•"/>
            </a:pPr>
            <a:r>
              <a:rPr lang="en-US" sz="1200"/>
              <a:t>ARIMA</a:t>
            </a:r>
          </a:p>
          <a:p>
            <a:pPr>
              <a:buFont typeface=""/>
              <a:buChar char="•"/>
            </a:pPr>
            <a:r>
              <a:rPr lang="en-US" sz="1200"/>
              <a:t>24-month forecast horizon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B5CC1-3AB1-F107-05C5-EC1B30E23DF8}"/>
              </a:ext>
            </a:extLst>
          </p:cNvPr>
          <p:cNvSpPr txBox="1"/>
          <p:nvPr/>
        </p:nvSpPr>
        <p:spPr>
          <a:xfrm>
            <a:off x="6920075" y="2824697"/>
            <a:ext cx="194449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Predicted (Mar 2028):</a:t>
            </a:r>
            <a:r>
              <a:rPr lang="en-US" sz="1200"/>
              <a:t> ~294 approvals</a:t>
            </a:r>
          </a:p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8F6972-1DEB-1C20-88A2-7E041CE25B02}"/>
              </a:ext>
            </a:extLst>
          </p:cNvPr>
          <p:cNvSpPr txBox="1"/>
          <p:nvPr/>
        </p:nvSpPr>
        <p:spPr>
          <a:xfrm>
            <a:off x="6926208" y="3567460"/>
            <a:ext cx="143572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95% CI: </a:t>
            </a:r>
            <a:r>
              <a:rPr lang="en-US" sz="1200"/>
              <a:t>79 – 509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7F5EA-86DC-BDF2-7EFC-11C70080B20A}"/>
              </a:ext>
            </a:extLst>
          </p:cNvPr>
          <p:cNvSpPr txBox="1"/>
          <p:nvPr/>
        </p:nvSpPr>
        <p:spPr>
          <a:xfrm>
            <a:off x="6927695" y="1170878"/>
            <a:ext cx="163783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Table</a:t>
            </a:r>
            <a:r>
              <a:rPr lang="en-US" sz="1200"/>
              <a:t>: Submissions (Date, Approvals) </a:t>
            </a:r>
          </a:p>
          <a:p>
            <a:pPr algn="ctr"/>
            <a:endParaRPr lang="en-GB"/>
          </a:p>
        </p:txBody>
      </p:sp>
      <p:pic>
        <p:nvPicPr>
          <p:cNvPr id="11" name="Picture 10" descr="A graph of blue dots&#10;&#10;AI-generated content may be incorrect.">
            <a:extLst>
              <a:ext uri="{FF2B5EF4-FFF2-40B4-BE49-F238E27FC236}">
                <a16:creationId xmlns:a16="http://schemas.microsoft.com/office/drawing/2014/main" id="{A62BD9F3-EB9D-020D-3176-28436EDCC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15" y="962607"/>
            <a:ext cx="6712011" cy="39477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D77E5D-2B35-3F3E-7EA6-FB2E5D1B3987}"/>
              </a:ext>
            </a:extLst>
          </p:cNvPr>
          <p:cNvSpPr txBox="1"/>
          <p:nvPr/>
        </p:nvSpPr>
        <p:spPr>
          <a:xfrm>
            <a:off x="6920074" y="2306723"/>
            <a:ext cx="237883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1"/>
              <a:t>After</a:t>
            </a:r>
            <a:r>
              <a:rPr lang="en-US" sz="1200"/>
              <a:t>: Seasonal Exponential Smoothing</a:t>
            </a:r>
            <a:endParaRPr lang="en-GB" sz="1200"/>
          </a:p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E52BE-EDF9-FC81-F922-9A7653C27866}"/>
              </a:ext>
            </a:extLst>
          </p:cNvPr>
          <p:cNvSpPr txBox="1"/>
          <p:nvPr/>
        </p:nvSpPr>
        <p:spPr>
          <a:xfrm>
            <a:off x="7174014" y="4356422"/>
            <a:ext cx="168662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i="1">
                <a:latin typeface="Times"/>
              </a:rPr>
              <a:t>(From 1980)</a:t>
            </a:r>
            <a:endParaRPr lang="en-US" sz="1200" i="1">
              <a:latin typeface="Times"/>
              <a:cs typeface="Times"/>
            </a:endParaRPr>
          </a:p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8EE9F6-6629-0CB8-CA5C-5A14BF4AEE26}"/>
              </a:ext>
            </a:extLst>
          </p:cNvPr>
          <p:cNvSpPr txBox="1"/>
          <p:nvPr/>
        </p:nvSpPr>
        <p:spPr>
          <a:xfrm>
            <a:off x="6918960" y="3188970"/>
            <a:ext cx="20193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1">
                <a:latin typeface="Century Gothic"/>
              </a:rPr>
              <a:t>After</a:t>
            </a:r>
            <a:r>
              <a:rPr lang="en-US" sz="1200">
                <a:latin typeface="Century Gothic"/>
              </a:rPr>
              <a:t>: </a:t>
            </a:r>
            <a:r>
              <a:rPr lang="en-US" sz="1200" baseline="0">
                <a:latin typeface="Century Gothic"/>
              </a:rPr>
              <a:t>~308 approvals</a:t>
            </a:r>
            <a:endParaRPr lang="en-GB"/>
          </a:p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1AA202-2C9F-B8AA-4841-032DA3486C97}"/>
              </a:ext>
            </a:extLst>
          </p:cNvPr>
          <p:cNvSpPr txBox="1"/>
          <p:nvPr/>
        </p:nvSpPr>
        <p:spPr>
          <a:xfrm>
            <a:off x="6926580" y="3745230"/>
            <a:ext cx="143256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1">
                <a:latin typeface="Century Gothic"/>
              </a:rPr>
              <a:t>After</a:t>
            </a:r>
            <a:r>
              <a:rPr lang="en-US" sz="1200" b="1" baseline="0">
                <a:latin typeface="Century Gothic"/>
              </a:rPr>
              <a:t>: </a:t>
            </a:r>
            <a:r>
              <a:rPr lang="en-US" sz="1200" baseline="0">
                <a:latin typeface="Century Gothic"/>
              </a:rPr>
              <a:t>31– 585</a:t>
            </a:r>
            <a:endParaRPr lang="en-GB"/>
          </a:p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EA28D6-FF80-D903-5A70-6785B648503C}"/>
              </a:ext>
            </a:extLst>
          </p:cNvPr>
          <p:cNvSpPr txBox="1"/>
          <p:nvPr/>
        </p:nvSpPr>
        <p:spPr>
          <a:xfrm>
            <a:off x="375781" y="258349"/>
            <a:ext cx="83955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Approval Volume Forecasting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(Monthly) </a:t>
            </a:r>
          </a:p>
        </p:txBody>
      </p:sp>
    </p:spTree>
    <p:extLst>
      <p:ext uri="{BB962C8B-B14F-4D97-AF65-F5344CB8AC3E}">
        <p14:creationId xmlns:p14="http://schemas.microsoft.com/office/powerpoint/2010/main" val="355645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0673-7E03-EC51-09BB-21834CE3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560662-AF5E-540C-6FBB-DEC79F937F01}"/>
              </a:ext>
            </a:extLst>
          </p:cNvPr>
          <p:cNvSpPr txBox="1"/>
          <p:nvPr/>
        </p:nvSpPr>
        <p:spPr>
          <a:xfrm>
            <a:off x="-31006" y="189113"/>
            <a:ext cx="919948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Market Continuity Prediction for Approved Drugs</a:t>
            </a:r>
            <a:endParaRPr lang="en-US" sz="240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endParaRPr lang="en-GB" sz="2400" b="1">
              <a:solidFill>
                <a:schemeClr val="tx2">
                  <a:lumMod val="75000"/>
                </a:schemeClr>
              </a:solidFill>
              <a:latin typeface="Montserrat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9C7EE-A60C-2DC3-F3C3-5D4BBD04C029}"/>
              </a:ext>
            </a:extLst>
          </p:cNvPr>
          <p:cNvSpPr txBox="1"/>
          <p:nvPr/>
        </p:nvSpPr>
        <p:spPr>
          <a:xfrm>
            <a:off x="1966501" y="615468"/>
            <a:ext cx="825887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1" baseline="0">
                <a:latin typeface="Times New Roman"/>
                <a:ea typeface="Segoe UI"/>
                <a:cs typeface="Times New Roman"/>
              </a:rPr>
              <a:t>Objective</a:t>
            </a:r>
            <a:r>
              <a:rPr lang="en-US" sz="1000" b="1">
                <a:latin typeface="Times New Roman"/>
                <a:ea typeface="Segoe UI"/>
                <a:cs typeface="Times New Roman"/>
              </a:rPr>
              <a:t>​</a:t>
            </a:r>
            <a:r>
              <a:rPr lang="en-US" sz="1000">
                <a:latin typeface="Times New Roman"/>
                <a:ea typeface="Segoe UI"/>
                <a:cs typeface="Times New Roman"/>
              </a:rPr>
              <a:t>:</a:t>
            </a:r>
            <a:r>
              <a:rPr lang="en-GB" sz="1000" baseline="0">
                <a:solidFill>
                  <a:srgbClr val="0D0D0D"/>
                </a:solidFill>
                <a:latin typeface="Times New Roman"/>
                <a:ea typeface="Segoe UI"/>
                <a:cs typeface="Times New Roman"/>
              </a:rPr>
              <a:t>Predict whether an approved drug will remain </a:t>
            </a:r>
            <a:r>
              <a:rPr lang="en-GB" sz="1000">
                <a:solidFill>
                  <a:srgbClr val="0D0D0D"/>
                </a:solidFill>
                <a:latin typeface="Times New Roman"/>
                <a:ea typeface="Segoe UI"/>
                <a:cs typeface="Times New Roman"/>
              </a:rPr>
              <a:t>Active or</a:t>
            </a:r>
            <a:r>
              <a:rPr lang="en-GB" sz="1000" baseline="0">
                <a:solidFill>
                  <a:srgbClr val="0D0D0D"/>
                </a:solidFill>
                <a:latin typeface="Times New Roman"/>
                <a:ea typeface="Segoe UI"/>
                <a:cs typeface="Times New Roman"/>
              </a:rPr>
              <a:t> become Discontinued post-approval.</a:t>
            </a:r>
            <a:r>
              <a:rPr lang="en-GB" sz="1000">
                <a:latin typeface="Times New Roman"/>
                <a:ea typeface="Segoe UI"/>
                <a:cs typeface="Times New Roman"/>
              </a:rPr>
              <a:t>​</a:t>
            </a:r>
            <a:endParaRPr lang="en-US" sz="1000">
              <a:latin typeface="Times New Roman"/>
              <a:cs typeface="Times New Roman"/>
            </a:endParaRPr>
          </a:p>
          <a:p>
            <a:pPr algn="ctr"/>
            <a:endParaRPr lang="en-GB" sz="10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A6C1E-5BDD-48E6-683E-4E4C2F4906E4}"/>
              </a:ext>
            </a:extLst>
          </p:cNvPr>
          <p:cNvSpPr txBox="1"/>
          <p:nvPr/>
        </p:nvSpPr>
        <p:spPr>
          <a:xfrm>
            <a:off x="6858000" y="1086912"/>
            <a:ext cx="1895708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cs typeface="Times New Roman"/>
              </a:rPr>
              <a:t>Tables:</a:t>
            </a:r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Applications </a:t>
            </a:r>
            <a:endParaRPr lang="en-US"/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Submissions </a:t>
            </a:r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Products </a:t>
            </a:r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Marketing Status</a:t>
            </a:r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49CDE-F587-84B7-2CCF-C7B05DB409F2}"/>
              </a:ext>
            </a:extLst>
          </p:cNvPr>
          <p:cNvSpPr txBox="1"/>
          <p:nvPr/>
        </p:nvSpPr>
        <p:spPr>
          <a:xfrm>
            <a:off x="6858000" y="2317031"/>
            <a:ext cx="2503714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cs typeface="Times New Roman"/>
              </a:rPr>
              <a:t>Target Variable(Market Status)</a:t>
            </a:r>
          </a:p>
          <a:p>
            <a:r>
              <a:rPr lang="en-US" sz="1200">
                <a:latin typeface="Times New Roman"/>
                <a:cs typeface="Times New Roman"/>
              </a:rPr>
              <a:t>1 → Active (Prescription, OTC) </a:t>
            </a:r>
          </a:p>
          <a:p>
            <a:r>
              <a:rPr lang="en-US" sz="1200">
                <a:latin typeface="Times New Roman"/>
                <a:cs typeface="Times New Roman"/>
              </a:rPr>
              <a:t>0 → Discontinued / For Further Manufacturing Use</a:t>
            </a:r>
          </a:p>
          <a:p>
            <a:endParaRPr lang="en-US" sz="1200">
              <a:latin typeface="Times New Roman"/>
              <a:cs typeface="Times New Roman"/>
            </a:endParaRPr>
          </a:p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92291-E953-AAC7-B510-E796561DB730}"/>
              </a:ext>
            </a:extLst>
          </p:cNvPr>
          <p:cNvSpPr txBox="1"/>
          <p:nvPr/>
        </p:nvSpPr>
        <p:spPr>
          <a:xfrm>
            <a:off x="6858000" y="3630950"/>
            <a:ext cx="2090854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cs typeface="Times New Roman"/>
              </a:rPr>
              <a:t>Best Model</a:t>
            </a:r>
          </a:p>
          <a:p>
            <a:r>
              <a:rPr lang="en-US" sz="1200">
                <a:latin typeface="Times New Roman"/>
                <a:cs typeface="Times New Roman"/>
              </a:rPr>
              <a:t>Gradient Boosting  </a:t>
            </a:r>
          </a:p>
          <a:p>
            <a:pPr>
              <a:buFont typeface="Courier New"/>
              <a:buChar char="•"/>
            </a:pPr>
            <a:r>
              <a:rPr lang="en-US" sz="1200">
                <a:latin typeface="Times New Roman"/>
                <a:cs typeface="Times New Roman"/>
              </a:rPr>
              <a:t>Lowest ASE – 0.2051</a:t>
            </a:r>
            <a:endParaRPr lang="en-US"/>
          </a:p>
          <a:p>
            <a:pPr>
              <a:buFont typeface="Courier New"/>
              <a:buChar char="•"/>
            </a:pPr>
            <a:r>
              <a:rPr lang="en-US" sz="1200">
                <a:latin typeface="Times New Roman"/>
                <a:cs typeface="Times New Roman"/>
              </a:rPr>
              <a:t>Best predictive performance</a:t>
            </a:r>
            <a:endParaRPr lang="en-US"/>
          </a:p>
          <a:p>
            <a:pPr>
              <a:buFont typeface=""/>
              <a:buChar char="•"/>
            </a:pPr>
            <a:endParaRPr lang="en-US" sz="1200">
              <a:latin typeface="Times New Roman"/>
              <a:cs typeface="Times New Roman"/>
            </a:endParaRPr>
          </a:p>
          <a:p>
            <a:pPr algn="ctr"/>
            <a:endParaRPr lang="en-GB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72580-BD02-6B3F-9B64-B6836034F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60" y="897452"/>
            <a:ext cx="6540391" cy="40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16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0EBA-3DEA-8496-2F82-547A6259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679BF-26D0-1713-E511-B33F33E0F748}"/>
              </a:ext>
            </a:extLst>
          </p:cNvPr>
          <p:cNvSpPr txBox="1"/>
          <p:nvPr/>
        </p:nvSpPr>
        <p:spPr>
          <a:xfrm>
            <a:off x="1059533" y="244193"/>
            <a:ext cx="702128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Python Forecasted Results to 2040</a:t>
            </a:r>
          </a:p>
          <a:p>
            <a:pPr algn="ctr"/>
            <a:endParaRPr lang="en-GB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D8A3A-4CC3-9F9B-D7C8-DD0F8B56B2E6}"/>
              </a:ext>
            </a:extLst>
          </p:cNvPr>
          <p:cNvSpPr txBox="1"/>
          <p:nvPr/>
        </p:nvSpPr>
        <p:spPr>
          <a:xfrm>
            <a:off x="6623244" y="3083053"/>
            <a:ext cx="2101448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 New Roman"/>
                <a:cs typeface="Times New Roman"/>
              </a:rPr>
              <a:t>Forecast Summary</a:t>
            </a:r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Model: Prophet time-series forecasting</a:t>
            </a:r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Train Period: 1985 –2025</a:t>
            </a:r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Est. 2040: ~7,100 /year</a:t>
            </a:r>
          </a:p>
          <a:p>
            <a:pPr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Trend: Growing</a:t>
            </a:r>
          </a:p>
          <a:p>
            <a:endParaRPr lang="en-US" sz="1200">
              <a:latin typeface="Times New Roman"/>
              <a:cs typeface="Times New Roman"/>
            </a:endParaRPr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01E8A-796E-ADBE-B697-5A0B416B0659}"/>
              </a:ext>
            </a:extLst>
          </p:cNvPr>
          <p:cNvSpPr txBox="1"/>
          <p:nvPr/>
        </p:nvSpPr>
        <p:spPr>
          <a:xfrm>
            <a:off x="6597311" y="1160111"/>
            <a:ext cx="204216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Times"/>
                <a:cs typeface="Times"/>
              </a:rPr>
              <a:t>Random Forest – Key Features</a:t>
            </a:r>
          </a:p>
          <a:p>
            <a:pPr marL="171450" indent="-171450">
              <a:buFont typeface="Arial"/>
              <a:buChar char="•"/>
            </a:pPr>
            <a:r>
              <a:rPr lang="en-US" sz="1200">
                <a:latin typeface="Times"/>
                <a:ea typeface="+mn-lt"/>
                <a:cs typeface="Times"/>
              </a:rPr>
              <a:t>Auto-downloads 12 FDA tables</a:t>
            </a:r>
            <a:endParaRPr lang="en-US" sz="1200">
              <a:latin typeface="Times"/>
              <a:cs typeface="Times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latin typeface="Times"/>
                <a:ea typeface="+mn-lt"/>
                <a:cs typeface="Times"/>
              </a:rPr>
              <a:t>7 features</a:t>
            </a:r>
          </a:p>
          <a:p>
            <a:pPr marL="171450" indent="-171450">
              <a:buFont typeface="Arial"/>
              <a:buChar char="•"/>
            </a:pPr>
            <a:r>
              <a:rPr lang="en-US" sz="1200">
                <a:latin typeface="Times"/>
                <a:ea typeface="+mn-lt"/>
                <a:cs typeface="Times"/>
              </a:rPr>
              <a:t>200 trees, balanced classes, 5-fold stratified CV</a:t>
            </a:r>
            <a:endParaRPr lang="en-US" sz="1200">
              <a:latin typeface="Times"/>
              <a:cs typeface="Times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latin typeface="Times"/>
                <a:ea typeface="+mn-lt"/>
                <a:cs typeface="Times"/>
              </a:rPr>
              <a:t>~0.85 ROC-AUC</a:t>
            </a:r>
            <a:endParaRPr lang="en-US" sz="1200">
              <a:latin typeface="Times"/>
              <a:cs typeface="Times"/>
            </a:endParaRPr>
          </a:p>
          <a:p>
            <a:pPr marL="285750" indent="-285750">
              <a:buFont typeface="Arial"/>
              <a:buChar char="•"/>
            </a:pPr>
            <a:endParaRPr lang="en-US" sz="1200">
              <a:latin typeface="Times New Roman"/>
              <a:cs typeface="Times New Roman"/>
            </a:endParaRPr>
          </a:p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E2F41-7D4A-E153-D499-E873885467DB}"/>
              </a:ext>
            </a:extLst>
          </p:cNvPr>
          <p:cNvSpPr txBox="1"/>
          <p:nvPr/>
        </p:nvSpPr>
        <p:spPr>
          <a:xfrm>
            <a:off x="1463784" y="745519"/>
            <a:ext cx="62077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latin typeface="Calibri"/>
              </a:rPr>
              <a:t>Objective: </a:t>
            </a:r>
            <a:r>
              <a:rPr lang="en-US" sz="1000">
                <a:latin typeface="Calibri"/>
              </a:rPr>
              <a:t>Forecast future FDA submission volumes using historical trends (1985–2025), projecting through 2040.</a:t>
            </a:r>
            <a:endParaRPr lang="en-US"/>
          </a:p>
          <a:p>
            <a:endParaRPr lang="en-US" sz="1200" i="1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5" name="Picture 4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35C3FAAE-114D-62D2-6409-31EA6560A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73" y="981075"/>
            <a:ext cx="6371164" cy="392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8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8266-E330-A8A1-FC53-ADE0526D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E94A1A-FE86-1CFA-F541-D945933A3657}"/>
              </a:ext>
            </a:extLst>
          </p:cNvPr>
          <p:cNvSpPr txBox="1"/>
          <p:nvPr/>
        </p:nvSpPr>
        <p:spPr>
          <a:xfrm>
            <a:off x="252617" y="866641"/>
            <a:ext cx="4692792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latin typeface="Times"/>
                <a:ea typeface="+mn-lt"/>
                <a:cs typeface="Times"/>
              </a:rPr>
              <a:t>Model: Prophet time-series forecasting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"/>
                <a:ea typeface="+mn-lt"/>
                <a:cs typeface="Times"/>
              </a:rPr>
              <a:t>Train Period: 1985 –2025</a:t>
            </a:r>
          </a:p>
          <a:p>
            <a:endParaRPr lang="en-US" sz="2000">
              <a:latin typeface="Times"/>
              <a:ea typeface="+mn-lt"/>
              <a:cs typeface="Times"/>
            </a:endParaRPr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58AEF-CE2C-7D3C-F93E-EE7984F24EF1}"/>
              </a:ext>
            </a:extLst>
          </p:cNvPr>
          <p:cNvSpPr txBox="1"/>
          <p:nvPr/>
        </p:nvSpPr>
        <p:spPr>
          <a:xfrm>
            <a:off x="1066337" y="203372"/>
            <a:ext cx="702128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Python Forecasted Results to 2040</a:t>
            </a:r>
          </a:p>
          <a:p>
            <a:pPr algn="ctr"/>
            <a:endParaRPr lang="en-GB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EB2CC2-31F4-6504-F865-7B6C22A3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2" y="1822930"/>
            <a:ext cx="8647340" cy="30488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CA0CE1-80DF-519F-96F9-9B02DD1CF688}"/>
              </a:ext>
            </a:extLst>
          </p:cNvPr>
          <p:cNvSpPr txBox="1"/>
          <p:nvPr/>
        </p:nvSpPr>
        <p:spPr>
          <a:xfrm>
            <a:off x="5334001" y="938893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Est. 2040: ~6,600 /year​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Trend: Growing​</a:t>
            </a:r>
          </a:p>
          <a:p>
            <a:pPr algn="ctr"/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58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9D413-E14E-28A6-E41C-1F612546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9382F0-B947-CBA4-DC62-457F2B5DAF9B}"/>
              </a:ext>
            </a:extLst>
          </p:cNvPr>
          <p:cNvSpPr txBox="1"/>
          <p:nvPr/>
        </p:nvSpPr>
        <p:spPr>
          <a:xfrm>
            <a:off x="332559" y="541771"/>
            <a:ext cx="721691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Model: Prophet time-series forecasting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Train Period: 1985 –2025</a:t>
            </a:r>
          </a:p>
          <a:p>
            <a:endParaRPr lang="en-US" sz="2000">
              <a:latin typeface="Times New Roman"/>
              <a:cs typeface="Times New Roman"/>
            </a:endParaRPr>
          </a:p>
          <a:p>
            <a:pPr algn="ctr"/>
            <a:endParaRPr lang="en-GB" sz="20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E5581-7231-9FC1-7BAE-2A50E40D2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37" y="1884162"/>
            <a:ext cx="8647339" cy="30148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1C134F-304D-E508-416D-DCA82D925FB8}"/>
              </a:ext>
            </a:extLst>
          </p:cNvPr>
          <p:cNvSpPr txBox="1"/>
          <p:nvPr/>
        </p:nvSpPr>
        <p:spPr>
          <a:xfrm>
            <a:off x="5265965" y="877662"/>
            <a:ext cx="45720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2025 Rate ~96.1%​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Est. 2040: ~94.4%​</a:t>
            </a:r>
          </a:p>
          <a:p>
            <a:pPr marL="285750" lvl="0" indent="-285750" rtl="0">
              <a:buFont typeface="Arial,Sans-Serif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F5BFC-7EB7-5CD3-C7A6-381E9C93D2CE}"/>
              </a:ext>
            </a:extLst>
          </p:cNvPr>
          <p:cNvSpPr txBox="1"/>
          <p:nvPr/>
        </p:nvSpPr>
        <p:spPr>
          <a:xfrm>
            <a:off x="1059533" y="244193"/>
            <a:ext cx="702128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Python Forecasted Results to 2040</a:t>
            </a:r>
          </a:p>
          <a:p>
            <a:pPr algn="ctr"/>
            <a:endParaRPr lang="en-GB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13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4413" y="270510"/>
            <a:ext cx="3394710" cy="442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Prescriptive Impact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CC55A1-06E1-27C4-458A-5811900474EB}"/>
              </a:ext>
            </a:extLst>
          </p:cNvPr>
          <p:cNvGrpSpPr/>
          <p:nvPr/>
        </p:nvGrpSpPr>
        <p:grpSpPr>
          <a:xfrm>
            <a:off x="548640" y="846908"/>
            <a:ext cx="8046720" cy="685800"/>
            <a:chOff x="548640" y="1119051"/>
            <a:chExt cx="8046720" cy="685800"/>
          </a:xfrm>
        </p:grpSpPr>
        <p:sp>
          <p:nvSpPr>
            <p:cNvPr id="4" name="Shape 2"/>
            <p:cNvSpPr/>
            <p:nvPr/>
          </p:nvSpPr>
          <p:spPr>
            <a:xfrm>
              <a:off x="548640" y="1119051"/>
              <a:ext cx="8046720" cy="685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77240" y="1265355"/>
              <a:ext cx="384048" cy="384048"/>
            </a:xfrm>
            <a:prstGeom prst="ellipse">
              <a:avLst/>
            </a:prstGeom>
            <a:solidFill>
              <a:srgbClr val="1B6FA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777240" y="1265355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/>
            </a:p>
          </p:txBody>
        </p:sp>
        <p:sp>
          <p:nvSpPr>
            <p:cNvPr id="7" name="Text 5"/>
            <p:cNvSpPr/>
            <p:nvPr/>
          </p:nvSpPr>
          <p:spPr>
            <a:xfrm>
              <a:off x="1371600" y="1183059"/>
              <a:ext cx="7040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2D2D2D"/>
                  </a:solidFill>
                  <a:ea typeface="+mn-lt"/>
                  <a:cs typeface="+mn-lt"/>
                </a:rPr>
                <a:t>Time &amp; Cost Savings</a:t>
              </a:r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1371600" y="1484811"/>
              <a:ext cx="7040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5A5A5A"/>
                  </a:solidFill>
                  <a:ea typeface="+mn-lt"/>
                  <a:cs typeface="+mn-lt"/>
                </a:rPr>
                <a:t>Processes 100,000+ records in under 3 minutes , saving 200+ analyst hour</a:t>
              </a:r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D69E79-DAC3-CDBA-CF93-6F62F6C3832C}"/>
              </a:ext>
            </a:extLst>
          </p:cNvPr>
          <p:cNvGrpSpPr/>
          <p:nvPr/>
        </p:nvGrpSpPr>
        <p:grpSpPr>
          <a:xfrm>
            <a:off x="548640" y="1887582"/>
            <a:ext cx="8046720" cy="685800"/>
            <a:chOff x="548640" y="1942011"/>
            <a:chExt cx="8046720" cy="685800"/>
          </a:xfrm>
        </p:grpSpPr>
        <p:sp>
          <p:nvSpPr>
            <p:cNvPr id="9" name="Shape 7"/>
            <p:cNvSpPr/>
            <p:nvPr/>
          </p:nvSpPr>
          <p:spPr>
            <a:xfrm>
              <a:off x="548640" y="1942011"/>
              <a:ext cx="8046720" cy="685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777240" y="2088315"/>
              <a:ext cx="384048" cy="384048"/>
            </a:xfrm>
            <a:prstGeom prst="ellipse">
              <a:avLst/>
            </a:prstGeom>
            <a:solidFill>
              <a:srgbClr val="1B6FA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777240" y="2088315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2006019"/>
              <a:ext cx="7040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2D2D2D"/>
                  </a:solidFill>
                  <a:ea typeface="+mn-lt"/>
                  <a:cs typeface="+mn-lt"/>
                </a:rPr>
                <a:t>Scalable &amp; Repeatable Architecture</a:t>
              </a:r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1371600" y="2307771"/>
              <a:ext cx="7040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5A5A5A"/>
                  </a:solidFill>
                  <a:ea typeface="+mn-lt"/>
                  <a:cs typeface="+mn-lt"/>
                </a:rPr>
                <a:t>Auto-downloads, retrains, and rescores with zero manual intervention</a:t>
              </a:r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5C473CA-E340-C79A-A6AB-9C7FCE7ED224}"/>
              </a:ext>
            </a:extLst>
          </p:cNvPr>
          <p:cNvGrpSpPr/>
          <p:nvPr/>
        </p:nvGrpSpPr>
        <p:grpSpPr>
          <a:xfrm>
            <a:off x="548640" y="2921453"/>
            <a:ext cx="8046720" cy="685800"/>
            <a:chOff x="548640" y="2764971"/>
            <a:chExt cx="8046720" cy="685800"/>
          </a:xfrm>
        </p:grpSpPr>
        <p:sp>
          <p:nvSpPr>
            <p:cNvPr id="14" name="Shape 12"/>
            <p:cNvSpPr/>
            <p:nvPr/>
          </p:nvSpPr>
          <p:spPr>
            <a:xfrm>
              <a:off x="548640" y="2764971"/>
              <a:ext cx="8046720" cy="685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777240" y="2911275"/>
              <a:ext cx="384048" cy="384048"/>
            </a:xfrm>
            <a:prstGeom prst="ellipse">
              <a:avLst/>
            </a:prstGeom>
            <a:solidFill>
              <a:srgbClr val="1B6FA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777240" y="2911275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2828979"/>
              <a:ext cx="7040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2D2D2D"/>
                  </a:solidFill>
                  <a:ea typeface="+mn-lt"/>
                  <a:cs typeface="+mn-lt"/>
                </a:rPr>
                <a:t>Universal Framework</a:t>
              </a:r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1371600" y="3130731"/>
              <a:ext cx="7040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5A5A5A"/>
                  </a:solidFill>
                  <a:ea typeface="+mn-lt"/>
                  <a:cs typeface="+mn-lt"/>
                </a:rPr>
                <a:t>Our pipeline is not FDA-specific — the same architecture (ingestion, feature engineering, classification, forecasting, risk scoring) can be applied to any structured dataset</a:t>
              </a:r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61195-38BB-F20F-3991-91A8C4394FAE}"/>
              </a:ext>
            </a:extLst>
          </p:cNvPr>
          <p:cNvGrpSpPr/>
          <p:nvPr/>
        </p:nvGrpSpPr>
        <p:grpSpPr>
          <a:xfrm>
            <a:off x="548640" y="3894092"/>
            <a:ext cx="8046720" cy="685800"/>
            <a:chOff x="548640" y="3587931"/>
            <a:chExt cx="8046720" cy="685800"/>
          </a:xfrm>
        </p:grpSpPr>
        <p:sp>
          <p:nvSpPr>
            <p:cNvPr id="19" name="Shape 17"/>
            <p:cNvSpPr/>
            <p:nvPr/>
          </p:nvSpPr>
          <p:spPr>
            <a:xfrm>
              <a:off x="548640" y="3587931"/>
              <a:ext cx="8046720" cy="6858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777240" y="3734235"/>
              <a:ext cx="384048" cy="384048"/>
            </a:xfrm>
            <a:prstGeom prst="ellipse">
              <a:avLst/>
            </a:prstGeom>
            <a:solidFill>
              <a:srgbClr val="1B6FA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77240" y="3734235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/>
            </a:p>
          </p:txBody>
        </p:sp>
        <p:sp>
          <p:nvSpPr>
            <p:cNvPr id="22" name="Text 20"/>
            <p:cNvSpPr/>
            <p:nvPr/>
          </p:nvSpPr>
          <p:spPr>
            <a:xfrm>
              <a:off x="1371600" y="3651939"/>
              <a:ext cx="7040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2D2D2D"/>
                  </a:solidFill>
                  <a:ea typeface="+mn-lt"/>
                  <a:cs typeface="+mn-lt"/>
                </a:rPr>
                <a:t>Future-Proof Data Integrity</a:t>
              </a:r>
              <a:endParaRPr lang="en-US" b="1"/>
            </a:p>
          </p:txBody>
        </p:sp>
        <p:sp>
          <p:nvSpPr>
            <p:cNvPr id="23" name="Text 21"/>
            <p:cNvSpPr/>
            <p:nvPr/>
          </p:nvSpPr>
          <p:spPr>
            <a:xfrm>
              <a:off x="1371600" y="3953691"/>
              <a:ext cx="7040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5A5A5A"/>
                  </a:solidFill>
                  <a:ea typeface="+mn-lt"/>
                  <a:cs typeface="+mn-lt"/>
                </a:rPr>
                <a:t>                                                              </a:t>
              </a:r>
              <a:endParaRPr lang="en-US"/>
            </a:p>
            <a:p>
              <a:r>
                <a:rPr lang="en-US" sz="1200">
                  <a:solidFill>
                    <a:srgbClr val="5A5A5A"/>
                  </a:solidFill>
                  <a:ea typeface="+mn-lt"/>
                  <a:cs typeface="+mn-lt"/>
                </a:rPr>
                <a:t>As data volumes explode across industries, our built-in validation and cleaning ensures every decision is based on trustworthy data , not noise.</a:t>
              </a:r>
              <a:endParaRPr lang="en-US"/>
            </a:p>
            <a:p>
              <a:endParaRPr lang="en-US" sz="1200">
                <a:solidFill>
                  <a:srgbClr val="5A5A5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652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D659E-4DCE-E83B-DF42-3894F3E65C0C}"/>
              </a:ext>
            </a:extLst>
          </p:cNvPr>
          <p:cNvSpPr txBox="1"/>
          <p:nvPr/>
        </p:nvSpPr>
        <p:spPr>
          <a:xfrm>
            <a:off x="-119077" y="1195982"/>
            <a:ext cx="5809762" cy="33547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66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Conclusion</a:t>
            </a:r>
          </a:p>
          <a:p>
            <a:pPr algn="ctr"/>
            <a:r>
              <a:rPr lang="en-US" sz="66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+</a:t>
            </a:r>
          </a:p>
          <a:p>
            <a:pPr algn="ctr"/>
            <a:r>
              <a:rPr lang="en-US" sz="6600" b="1">
                <a:solidFill>
                  <a:schemeClr val="tx2">
                    <a:lumMod val="75000"/>
                  </a:schemeClr>
                </a:solidFill>
                <a:latin typeface="Montserrat Bold"/>
              </a:rPr>
              <a:t>Q&amp;A</a:t>
            </a:r>
          </a:p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pic>
        <p:nvPicPr>
          <p:cNvPr id="7" name="Picture 6" descr="preencoded.png">
            <a:extLst>
              <a:ext uri="{FF2B5EF4-FFF2-40B4-BE49-F238E27FC236}">
                <a16:creationId xmlns:a16="http://schemas.microsoft.com/office/drawing/2014/main" id="{2C6D4809-16A7-D720-B0B2-33AA8DA5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658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502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webextension1.xml><?xml version="1.0" encoding="utf-8"?>
<we:webextension xmlns:we="http://schemas.microsoft.com/office/webextensions/webextension/2010/11" id="{949DAB4D-7C31-4F20-9DBA-75F2AC1E5780}">
  <we:reference id="WA200003233" version="2.0.0.3" store="en-us" storeType="omex"/>
  <we:alternateReferences>
    <we:reference id="WA200003233" version="2.0.0.3" store="omex" storeType="omex"/>
  </we:alternateReferences>
  <we:properties>
    <we:property name="artifactViewState" value="&quot;live&quot;"/>
    <we:property name="backgroundColor" value="&quot;#D8E2EB&quot;"/>
    <we:property name="bookmark" value="&quot;H4sIAAAAAAAAA+1YbU/kNhD+KyhSxZdVmzjv9BMHnITKXRF7un44oWpijxffZePIcTg4tP+9E2eBXdiF9NgVvbYgtGt7/OTxzOOZCTeeUE1dwvV7mKK3573R+ssUzJedwBt5VT+XyDgLQwxFnoYyFzmDmNGqrq3SVePt3XgWzATtR9W0UHZANPnpfORBWZ7CpBtJKBsceTWaRldQqm/YG9OSNS3ORh5e1aU20EGOLVjsYC/JnMZEIfg5pCcCt+oSx8htPxsXKUMuQsikYJFMixgjMmt6A8dspUkH7R5/oCsLqqLHdHPgh3lSxIxxCIswiCNWyG5eqtLOTYrro6va0Olubp2TBkGQyYIHAGnCRJ77fkYc7HXdre6LS6g4CprpUTqQj7fHYiPvrdFTBzf3f0OWR5VV9poG47aYqqZxZxl5HxykPyPH/nGBBt02OoFQvTsIQ9vuo6OITTOfPNDTGoxqHo5+U5UguJF3gtJte4fQtAYfI4x1azieobwfOKYzCtup0RRUx3a/ro2+hHLnjMK385NbPlOTCwd+oujwULrjQ9l2AFVblmTkfs57BSw8dBibla4awOtCfz0wSGNyQTAb3UUz84VkCY+iHCMWJSkvcnEfzQPaMNFGcTrI0IDWiwElVqLl9gXRPK6W55r5vrKdVkMjVz/00NgarCb2guaJjotPh/tpZdh2d53ZmsX3v+z/Ov9zdudrwjuI8WO/rSe+HFO/i+nKqG2DxqFpJy7cr0tj36XH42piUCis7CvTeavN9EkKC8lxW3f/g7Z08R8avCKhPhmhGMxpc3F6R2UdraomXX1tmz9PqNS3j3LBA6tDbLhRrtKvoNnd64Zsy3k5v6+sfXqjxqAo8eiq6xaKz9iJZO+G9mgj0Ly5drnrUJnbgh6MHtWuDV9PYkxrgZ8hRMJnAkUY+0zKDNcX+o0H4gl53C85B36Hx5tScapKiw73pkjtWfdlglWfselYdf9Uhc390Ze/ba1P2UQRe951A0rZ70ZN7sqUK1W0SYCFFR6aauF8iE4Xq/EOaYfQX6tdb172ZrdNKxH9vNCW3hHbpna6A428qMiZoIYmKDJImRQ8ZvnzXS0EWAQJCmBRlMaySMQL+6DNN7ZbVlGf//5GS7SZVmdQgO+4bTY9/PjKvw+a036RJbEMIeLIkkRgmEgZPKt97sdBLJH5cZJzGaVp+FLtw6L2qQOgGIB9ffHDiuakHJw8569vG5L9klfW0/oP6X2gR+ZJPgzSHDil6SyIgwKQseR/of9rhB5s5YXgKSrjmia1WfNW+0/pQl+mt61Ia9lxA3qHU6m+odk5rviP1YkOV0+fooIwDHmS0m+eoUyLiLrSDvBJHakpkGaW3h5dusM4EIWgl7gEIZNpBNx/FsvilS301Qo0v+B5EgZZwjjPQ8mp+f1eZlCA4DLNQ84hi1mIfpA9i1UT1Hu4VBOw2jzEdLCrrpFubVMDx1OocIVKSB1Qie6+PqkU95/5O5HMZn8BMIg1NREYAAA=&quot;"/>
    <we:property name="creatorSessionId" value="&quot;d187d762-106b-4181-bdf0-57ca099c05e0&quot;"/>
    <we:property name="creatorTenantId" value="&quot;ae145aea-cdb2-446a-b05a-7858dde5ddba&quot;"/>
    <we:property name="creatorUserId" value="&quot;100320030698A4C0&quot;"/>
    <we:property name="datasetId" value="&quot;8fa1b7a7-cd4e-4699-8f26-b68499c3ec92&quot;"/>
    <we:property name="embedUrl" value="&quot;/reportEmbed?reportId=2f33377a-4c22-4129-b45b-760547c8e5de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+1Y227bOBD9lULAIi/Grkjdu09pkgJFLg2SIvtQBMWQHDpqZUmgqDRp4H/fIeXcbcebOgiwrQPDITk8PDwz5Ix0Faiyayu4PIAJBm+Dd03zbQLm2xsWjIJ61vfx4+7+5tHul4PN/R3qblpbNnUXvL0KLJgx2pOy66FyCNT5+XQUQFUdwti1NFQdjoIWTdfUUJU/cDCmIWt6nI4CvGirxoCDPLZg0cGekzm1aW32Z0QrgrTlOR6jtENvIjKOUkWQa8VjnYkEYzLrBgPPbK6Jg/bLbzW1hbKmZVxfHEEkMdexiuI8ZmHBdO76u7IeVzPCt3M/XbZOlZY2eADn5RhsY5wq4ist7/CmU9oWhFGRioRzCZGIWBJzoR2GLis7W1Zc7ly0hhS7ulY6Y4zlWkgGkKVcFUUY5gRthxU31TnUEhX1DCgO5ORaKj4K3ptm4uFmzuzIcqe2pb2kxnEvJmXXeX1GwbCJcErO+ucMDfpppIoqB4kJo7Hux1HErpt1bjWTFkzZPWztlrUiuFGwh9pP20foeoOPEY6b3kg8Qn3b8EydZoemoUDxbDfb1jTnUL05opB484cfPirHZx58r6TNDy45gap3AHVfVWTkP6dDVN1ZdDU2c6VagddZ833LILVJAjYd3XgzD5XmqYzjAmMep5kUhbr15hZNGDemlLSRVR3a3nUosVK9i7hne/NDfb+vm82r+km9qufahwodW4P12J5RP9Hx/nG4n+e6bWPDmy0YPPhr8+/Z19udLnDvSowf67aY+H2fhs6nc732EjS2TT/27n5dGpv+yv1Qjw2qEmv7ynTeN2aylMKdy/Glzv6nxtLBf2jwioSGywjVypzW56d9qhHQUn50ObvvvuxR3dA/ugseWG1jJ03pq4c5NN25XppxLYgKdy7u51pqGIXm3aW/u7ZLc10ksNGj3LXm40mMaYyFOUKsQq5QRUnItc5xcaJfuyOWhMftkBfwGYp3VSnxfnETTJBKPvePAgt+T+2wZInDeKP8MPotz7/Yt2mGar7XG8HsRp9e13hE/+udKu4mfbykLKe+YItFwRXlaiZyyLhWMuHF0wUbMBQsRQU8jrNEi1T9ZIpff822jiy/RMThaP+HbL+eLL6Sg2+4/Y78RU7zsS/yNNERxBJ5miqMUq3Zk7Evw4QlGnmYpIXUcZZFPxv7cDf2KbmRD8C+fvDDnLxbXd8dTwb97MlkTWF/T5XFtH6heF9RkdklH7GsAEnXdM4SJgA5T38H+v8m0NmL1LrLqBy31NmYBQ9sv+ixuy/KcPJYFEUyzeivyFFnIqZiywEulaecAEnx6N0aSyENIUs45InMmcjC4un3dQuw4lDIIo1YnnIpi0hLquiei6WZRkxCmRUMUOgiVpI/F0sxDlJyVvBQy1ggZgKexLJ4YUVz8RhNKJI7j8KElM9INEFbfj5ajAlTQtFjT4qQ6ywGGT4XzQPOi/6mt10LEg+hxjmngKIfauWO2dKT4N8/B34RYlPSA+QTE9xb6ZtDM53+C/TXrSQgFwAA&quot;"/>
    <we:property name="isFiltersActionButtonVisible" value="true"/>
    <we:property name="isVisualContainerHeaderHidden" value="false"/>
    <we:property name="pageDisplayName" value="&quot;Executive Overview&quot;"/>
    <we:property name="pageName" value="&quot;5b72ecd3a8fd24f7b5e4&quot;"/>
    <we:property name="reportEmbeddedTime" value="&quot;2026-03-24T02:16:23.520Z&quot;"/>
    <we:property name="reportName" value="&quot;Transforming Government Data into Strategic Pharmaceutical Insights&quot;"/>
    <we:property name="reportState" value="&quot;CONNECTED&quot;"/>
    <we:property name="reportUrl" value="&quot;/groups/me/reports/2f33377a-4c22-4129-b45b-760547c8e5de/5b72ecd3a8fd24f7b5e4?pbi_source=storytelling_addin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b03ef5-b95a-4419-a4f0-e8ef2648cf6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9B5A23569E2D48A94A1C6C5534EC70" ma:contentTypeVersion="11" ma:contentTypeDescription="Create a new document." ma:contentTypeScope="" ma:versionID="079ee34187cc01943e1b0b863ce17312">
  <xsd:schema xmlns:xsd="http://www.w3.org/2001/XMLSchema" xmlns:xs="http://www.w3.org/2001/XMLSchema" xmlns:p="http://schemas.microsoft.com/office/2006/metadata/properties" xmlns:ns3="46b03ef5-b95a-4419-a4f0-e8ef2648cf62" targetNamespace="http://schemas.microsoft.com/office/2006/metadata/properties" ma:root="true" ma:fieldsID="90b03d4089b4637a17e8ee10d955b693" ns3:_="">
    <xsd:import namespace="46b03ef5-b95a-4419-a4f0-e8ef2648cf6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03ef5-b95a-4419-a4f0-e8ef2648cf6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AD372A-AAB4-48D0-A6A8-1955A6F19FF0}">
  <ds:schemaRefs>
    <ds:schemaRef ds:uri="46b03ef5-b95a-4419-a4f0-e8ef2648cf62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A6944C26-D740-45C3-8B71-F94AC4038B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DDC939-CA55-41C3-85F1-3B2D8A1F7E2F}">
  <ds:schemaRefs>
    <ds:schemaRef ds:uri="46b03ef5-b95a-4419-a4f0-e8ef2648cf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Application>Microsoft Office PowerPoint</Application>
  <PresentationFormat>On-screen Show (16:9)</PresentationFormat>
  <Slides>13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FDA Drug Approval Analytics Dashboard</dc:title>
  <dc:subject>PptxGenJS Presentation</dc:subject>
  <dc:creator>The Tigers - University of Memphis</dc:creator>
  <cp:revision>12</cp:revision>
  <dcterms:created xsi:type="dcterms:W3CDTF">2026-03-15T06:37:44Z</dcterms:created>
  <dcterms:modified xsi:type="dcterms:W3CDTF">2026-03-30T23:31:47Z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0x010100F59B5A23569E2D48A94A1C6C5534EC70</vt:lpwstr>
  </property>
</Properties>
</file>